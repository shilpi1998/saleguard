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3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solidFill>
            <a:srgbClr val="3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128016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SaleGuard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9CC5FB"/>
                </a:solidFill>
                <a:latin typeface="Calibri"/>
              </a:rPr>
              <a:t>AI-Powered Sales Call QA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D8E3F3"/>
                </a:solidFill>
                <a:latin typeface="Calibri"/>
              </a:rPr>
              <a:t>From manual audits to automated compliance — in seconds, not 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172200"/>
            <a:ext cx="50292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8C6DB"/>
                </a:solidFill>
                <a:latin typeface="Calibri"/>
              </a:rPr>
              <a:t>CIMET / econnex Hackathon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Quality assurance can't keep pace with sales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CIMET's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Runs Australia's energy &amp; broadband comparison platform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Sales agents call to sell plans across 30+ retailers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Thousands of sales calls placed every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371600"/>
            <a:ext cx="5852160" cy="196596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361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Today's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38528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Human auditors manually listen to 30-min recordings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Findings logged into Excel checklists, retailer by retailer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Each retailer enforces different compliance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Pain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26974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Doesn't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Auditors can't cover thousands of calls/month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02336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4023360"/>
            <a:ext cx="26974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Inconsistent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Different auditors, different standards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2336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023360"/>
            <a:ext cx="26974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Slow Turnaround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Issues surface days after the call happened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023360"/>
            <a:ext cx="26974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4023360"/>
            <a:ext cx="26974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2519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Compliance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Missed violations expose CIMET &amp; retailers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Solution — SaleGuard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An end-to-end automated QA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Recording in  →  AI-scored scorecard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Config-Driven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New retailer = new config rows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Zero code changes required to onboard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Checklists live in evaluation_config (JSONB)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Gate Logic &amp;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Auto-submit calls that pass every check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Hold failures for human review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0">
                <a:solidFill>
                  <a:srgbClr val="1A1A2E"/>
                </a:solidFill>
                <a:latin typeface="Calibri"/>
              </a:rPr>
              <a:t>●  Full audit trail with override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</a:rPr>
              <a:t>Three Check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091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892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Verbatim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072"/>
                </a:solidFill>
                <a:latin typeface="Calibri"/>
              </a:rPr>
              <a:t>Script compliance — did the agent say the required words?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091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60" y="4892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8920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349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072"/>
                </a:solidFill>
                <a:latin typeface="Calibri"/>
              </a:rPr>
              <a:t>CRM data accuracy — rates, plans &amp; dates match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70916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5320" y="4892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8920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Behavioural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349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072"/>
                </a:solidFill>
                <a:latin typeface="Calibri"/>
              </a:rPr>
              <a:t>Call quality — tone, pacing, professionalism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The end-to-end pipeline, call to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103120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Sales Call</a:t>
            </a:r>
          </a:p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Recording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Upload or record</a:t>
            </a:r>
          </a:p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in-browser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807208" y="2715768"/>
            <a:ext cx="283464" cy="329184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196596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4612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97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Transcription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004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Deepgram Nova-2 with</a:t>
            </a:r>
          </a:p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speaker diarization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5458968" y="2715768"/>
            <a:ext cx="283464" cy="329184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196596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8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97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AI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LLM evaluates each</a:t>
            </a:r>
          </a:p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retailer checklist item</a:t>
            </a:r>
          </a:p>
        </p:txBody>
      </p:sp>
      <p:sp>
        <p:nvSpPr>
          <p:cNvPr id="21" name="Chevron 20"/>
          <p:cNvSpPr/>
          <p:nvPr/>
        </p:nvSpPr>
        <p:spPr>
          <a:xfrm>
            <a:off x="8110728" y="2715768"/>
            <a:ext cx="283464" cy="329184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1965960"/>
            <a:ext cx="2331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49640" y="210312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697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Gate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004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auto_submit / held_critical /</a:t>
            </a:r>
          </a:p>
          <a:p>
            <a:pPr algn="l"/>
            <a:r>
              <a:rPr sz="1100" b="0" i="0">
                <a:solidFill>
                  <a:srgbClr val="556072"/>
                </a:solidFill>
                <a:latin typeface="Calibri"/>
              </a:rPr>
              <a:t>held_low_conf / held_sample</a:t>
            </a:r>
          </a:p>
        </p:txBody>
      </p:sp>
      <p:sp>
        <p:nvSpPr>
          <p:cNvPr id="26" name="Chevron 25"/>
          <p:cNvSpPr/>
          <p:nvPr/>
        </p:nvSpPr>
        <p:spPr>
          <a:xfrm>
            <a:off x="10762488" y="2715768"/>
            <a:ext cx="420624" cy="329184"/>
          </a:xfrm>
          <a:prstGeom prst="chevron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201400" y="192024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E7F7EE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20391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Auto-Submit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235000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6072"/>
                </a:solidFill>
                <a:latin typeface="Calibri"/>
              </a:rPr>
              <a:t>Clean sale approved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01400" y="297180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FDEEE1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92840" y="3090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Human Review 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34015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56072"/>
                </a:solidFill>
                <a:latin typeface="Calibri"/>
              </a:rPr>
              <a:t>Held for manual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56072"/>
                </a:solidFill>
                <a:latin typeface="Calibri"/>
              </a:rPr>
              <a:t>Every recording flows through the same automated pipeline — regardless of retailer or agent.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Scoring Engine — The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Three evaluator types, driven by evaluation_config JSONB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67335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Type A — Verbatim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Compares agent speech against approved scripts, key phrases &amp; match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1188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673352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373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Type B — Factual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77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Cross-references what the agent said vs CRM data — rates, plan names,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36118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1673352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373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Type C — Behavioural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Analyzes call patterns — dead air, rapport, pressure tactics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20440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Gate Logic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31596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251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Any critical check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C2626"/>
                </a:solidFill>
                <a:latin typeface="Calibri"/>
              </a:rPr>
              <a:t>→  Held for review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754880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69087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Low confidence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9087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D97706"/>
                </a:solidFill>
                <a:latin typeface="Calibri"/>
              </a:rPr>
              <a:t>→  Held for 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19379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12978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5% random sample of clean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2978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563EB"/>
                </a:solidFill>
                <a:latin typeface="Calibri"/>
              </a:rPr>
              <a:t>→  Held for calibration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5686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All clear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6869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A34A"/>
                </a:solidFill>
                <a:latin typeface="Calibri"/>
              </a:rPr>
              <a:t>→  Auto-submit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Modern, pragmatic, config-first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996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Python +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9961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470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Next.js + TypeScript + shadcn/ui + Recharts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032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8833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PostgreSQL (JSONB for flexible config)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6032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8833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Voice / Transcription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3580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Deepgram Nova-2 — diarization, word-level timestamps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490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4904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7705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LLM — Primary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245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Salesforce LLM Gateway → GPT-4o (free tier)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4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4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87705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LLM — 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2245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Anthropic Claude Sonnet (higher accuracy)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3776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06577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4132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Docker (PostgreSQL), local file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93776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06577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Audio Capture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4132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MediaRecorder API (in-browser recording)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Models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Purpose-built transcription + dual-provider LLM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201400" cy="1783080"/>
          </a:xfrm>
          <a:prstGeom prst="roundRect">
            <a:avLst>
              <a:gd name="adj" fmla="val 6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Transcription Model: Deepgram Nova-2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Speaker diarization — distinguishes Agent vs Customer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Word-level timestamps for evidence linking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PII redaction capability built in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●  95%+ accuracy on phone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LLM Scoring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48640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959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GPT-4o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6072"/>
                </a:solidFill>
                <a:latin typeface="Calibri"/>
              </a:rPr>
              <a:t>via Salesforce LLM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072"/>
                </a:solidFill>
                <a:latin typeface="Calibri"/>
              </a:rPr>
              <a:t>Default • Free tier • Good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486400" cy="8229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959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  <a:latin typeface="Calibri"/>
              </a:rPr>
              <a:t>Claude Sonnet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6072"/>
                </a:solidFill>
                <a:latin typeface="Calibri"/>
              </a:rPr>
              <a:t>via Anthropic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09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6072"/>
                </a:solidFill>
                <a:latin typeface="Calibri"/>
              </a:rPr>
              <a:t>Premium • Structured tool_use for guaranteed JSON schema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9496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Dual-provider architecture — switch with one env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FD3EE"/>
                </a:solidFill>
                <a:latin typeface="Calibri"/>
              </a:rPr>
              <a:t>LLM_PROVIDER=gateway  or  LLM_PROVIDER=anthropic   •   Each check gets a dynamically built prompt from evaluation_config — never hardcoded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Guardrails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Built for trust, auditability, and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719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Consent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Scored as an explicit check — never assumed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1719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481328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Override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105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Mandatory reason logging on every 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41448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" y="278892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51176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Full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80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Who overrode, when, and why — always traceable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41448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2788920"/>
            <a:ext cx="256032" cy="25603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551176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Version-Controlled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880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effective_from / effective_to dates on every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1129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3858768"/>
            <a:ext cx="256032" cy="25603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21024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Random Calibration 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502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5% of clean calls held for human calibration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11296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385876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621024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PII Redaction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9502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Sensitive data masked in transcript display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81144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4088" y="4928616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690872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3A5F"/>
                </a:solidFill>
                <a:latin typeface="Calibri"/>
              </a:rPr>
              <a:t>No Auto-Correction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020056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072"/>
                </a:solidFill>
                <a:latin typeface="Calibri"/>
              </a:rPr>
              <a:t>System only reports — never modifies lead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 Highlights / Key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FD3EE"/>
                </a:solidFill>
                <a:latin typeface="Calibri"/>
              </a:rPr>
              <a:t>What you'll see in the walkthrough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685800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6858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361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Live Analytics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9280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Pass rates, critical fails &amp; trends in real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32304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32304"/>
            <a:ext cx="685800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32304"/>
            <a:ext cx="6858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511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Lead Detail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077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Audio player + transcript viewer + scorecard side-by-side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47288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47288"/>
            <a:ext cx="685800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47288"/>
            <a:ext cx="6858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661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Record → Transcribe →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2277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One flow — record in-browser, transcribe, and score instantly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62272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62272"/>
            <a:ext cx="685800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62272"/>
            <a:ext cx="6858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8114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Admin Review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377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Held leads triaged; retailer &amp; check CRUD management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77256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477256"/>
            <a:ext cx="685800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77256"/>
            <a:ext cx="6858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9612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3A5F"/>
                </a:solidFill>
                <a:latin typeface="Calibri"/>
              </a:rPr>
              <a:t>Evidence-Linked Playback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95274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56072"/>
                </a:solidFill>
                <a:latin typeface="Calibri"/>
              </a:rPr>
              <a:t>Click evidence → audio seeks to the exact moment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6072"/>
                </a:solidFill>
                <a:latin typeface="Calibri"/>
              </a:rPr>
              <a:t>SaleGuard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206240"/>
            <a:ext cx="4206240" cy="4206240"/>
          </a:xfrm>
          <a:prstGeom prst="ellipse">
            <a:avLst/>
          </a:prstGeom>
          <a:solidFill>
            <a:srgbClr val="3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-1828800"/>
            <a:ext cx="3474720" cy="3474720"/>
          </a:xfrm>
          <a:prstGeom prst="ellipse">
            <a:avLst/>
          </a:prstGeom>
          <a:solidFill>
            <a:srgbClr val="3B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128016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9CC5FB"/>
                </a:solidFill>
                <a:latin typeface="Calibri"/>
              </a:rPr>
              <a:t>SaleGuard — Automating Trust in Every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Built by:  Shilpi Mittal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D8E3F3"/>
                </a:solidFill>
                <a:latin typeface="Calibri"/>
              </a:rPr>
              <a:t>GitHub:  github.com/shilpi1998/SaleGuard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8C6DB"/>
                </a:solidFill>
                <a:latin typeface="Calibri"/>
              </a:rPr>
              <a:t>CIMET / econnex Hackathon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